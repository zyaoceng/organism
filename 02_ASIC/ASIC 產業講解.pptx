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CoWoS 產能 (wafers per month)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8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 年底</c:v>
                  </c:pt>
                  <c:pt idx="1">
                    <c:v>2025 年底</c:v>
                  </c:pt>
                  <c:pt idx="2">
                    <c:v>2026 年底 (預估)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35000</c:v>
                </c:pt>
                <c:pt idx="1">
                  <c:v>75000</c:v>
                </c:pt>
                <c:pt idx="2">
                  <c:v>130000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8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市佔率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Broadcom + Marvell</c:v>
                </c:pt>
                <c:pt idx="1">
                  <c:v>其他玩家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半導體營收 (10 億美元)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&quot;$&quot;0.0&quot;B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8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 (guidance)</c:v>
                  </c:pt>
                  <c:pt idx="3">
                    <c:v>FY26 全年目標</c:v>
                  </c:pt>
                  <c:pt idx="4">
                    <c:v>FY27 目標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8.4</c:v>
                </c:pt>
                <c:pt idx="1">
                  <c:v>10.8</c:v>
                </c:pt>
                <c:pt idx="2">
                  <c:v>16</c:v>
                </c:pt>
                <c:pt idx="3">
                  <c:v>56</c:v>
                </c:pt>
                <c:pt idx="4">
                  <c:v>100</c:v>
                </c:pt>
              </c:numCache>
            </c:numRef>
          </c:val>
        </c:ser>
        <c:dLbls>
          <c:numFmt formatCode="&quot;$&quot;0.0&quot;B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8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H1 營收 YoY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&quot;+&quot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8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Broadcom</c:v>
                  </c:pt>
                  <c:pt idx="1">
                    <c:v>Marvell</c:v>
                  </c:pt>
                  <c:pt idx="2">
                    <c:v>創意 GUC (3443)</c:v>
                  </c:pt>
                  <c:pt idx="3">
                    <c:v>世芯 Alchip (3661)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27</c:v>
                </c:pt>
                <c:pt idx="2">
                  <c:v>93</c:v>
                </c:pt>
                <c:pt idx="3">
                  <c:v>100</c:v>
                </c:pt>
              </c:numCache>
            </c:numRef>
          </c:val>
        </c:ser>
        <c:dLbls>
          <c:numFmt formatCode="&quot;+&quot;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8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開場:直接進入,不用 hook。可以說「今天想跟大家聊 ASIC 這條線,我最近看下來覺得結構性變化很清楚,想整理給大家聽」。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Agenda:直接帶過,每部分時間分配讓大家有預期。強調第四、第五部分是重點。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用光譜的方式建立直覺。CPU 什麼都能做但都不最快 → GPU 為平行運算 → FPGA 可改裝 → ASIC 極致專用。這一張是後面所有內容的基礎。可以用「跑車 vs 貨車 vs 專用挖礦機」的比喻。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這頁的重點是「經濟門檻」。一般公司繼續買 Nvidia 就好;但 hyperscaler 部署量夠大,自研 ASIC 才划算。這解釋了為什麼只有五、六家公司在做這件事。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三個關鍵代價:時間、錢、彈性。這解釋了為什麼一般公司不會做 ASIC。呼應上一頁的「10 萬顆門檻」。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第一部分收尾。這個一句話總結是幫聽眾把前面的內容濃縮下來,朋友回家路上還會記得。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兩種模式並存,實際上 hyperscaler 常常混用 —— 例如 Google 內部團隊 + Broadcom 一起做 TPU。這場主要講第二種:設計服務商。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三段收費是理解設計服務商財報的關鍵。世芯 Q1 2026 毛利率 50.2%,是 NRE 佔比高;等 Trainium 3 出貨後會降到 20% —— 這不是「壞」,是「爆量」的訊號。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產業鏈地圖。重點是最右邊的 CoWoS —— 這是台積電發明的先進封裝,是所有 AI 加速器的必要條件,而且產能已經被 Nvidia 佔了 60%。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這是全場最硬的一張數字。四倍擴張聽起來很多,但 Nvidia 一家佔 60%,剩下的還不夠分。lead time 52-78 週代表訂單已經排到 2027 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雙寡頭這件事情很關鍵 —— 幾乎所有 hyperscaler 的客製晶片錢都流過 Broadcom + Marvell。台廠是接他們的訂單,不是取代他們。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六家 hyperscaler 各自都有自研晶片。這是全業界的集體行動,不是單一公司的策略。強調「這些不是 roadmap,是已經下單的訂單」。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這是全場數字最漂亮的一張。從 $8.4B 一路衝到 FY27 目標 $100B。強調 $73B backlog 是「已收到訂單」,不是預期。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這一頁的重點是「兩個市場」。訓練會繼續讓 Nvidia 賺錢,但推論的技術特性剛好是 ASIC 的強項。這是 ASIC 產業的長期理由。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這是很經典的 hyperscaler 談判策略 —— 同時綁兩家供應商,讓大家互相制衡。這個 pattern 會擴散到其他 hyperscaler。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這張圖說明「乘數效應」—— 美廠成長 30-50% 已經很好,台廠成長 93-100% 是因為基數小。這不代表台廠贏了美廠,而是「同一批訂單對兩者影響不對等」。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這張是全場最重要的一張對照表。四家的差異可以用五個維度看清楚。後面每家會單獨深入。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Broadcom 是全場最好懂的一家:六家 hyperscaler、$73B backlog、Forward PE 20x。四家裡「風險最低的曝險」。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Marvell 是 Broadcom 的較小分身。重點是 Google Merope 這個新拿下的案子 —— 這是打破 Broadcom 在 Google 的獨佔,是最近最重要的新聞。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世芯是台廠最純的 AI ASIC 曝險。強調「100% first silicon success」是他們的核心競爭力。風險就是 AWS 集中度 —— 60%+ 太恐怖了。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GUC 是台積電子公司,產能優勢明顯。客戶比世芯分散,但估值也已經很高。CPO 是第二成長曲線,值得留意。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這是破題:傳統 PE 對這個產業沒用。世芯的問題是分母不穩、Marvell 的問題是分母未來會變。所以要換工具。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三個指標的核心邏輯:公式、適合對象、判斷標準。這一頁後面每家公司會用到其中一個。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這一頁是全場最重要的公式。三個步驟。第三步「合理倍數」是主觀,所以要給悲觀/中性/樂觀三個區間。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Broadcom 用 Forward PE 法。假設清楚、依據可查。分析師比我樂觀,差在「AI 溢價」判斷 —— 可以邀請朋友討論。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Marvell 用 PEG 反推法。這是最主觀的一家 —— PEG 給 0.9 還是 1.5,取決於是否給 AI 溢價。分析師之間差三倍,這是我和分析師最一致但也最有分歧的一家。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世芯是全場最有戲的一家。我和分析師都認為中性 NT$6,000,但現價只有 NT$3,300 —— 隱含 80% upside。這 gap 反映市場對 Trainium 4 續戰的疑慮。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GUC 是四家裡我比分析師樂觀的一家。原因是我用 2027 營收、分析師用 2026 營收。這順帶帶出「目標價的第一個問題是對應多久」的心法。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這張是估值段的收尾。四家對照一目瞭然。三個「星號」是討論的重點。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三個心法,可以背下來當答問集。朋友追問「所以會漲到多少」時,直接用第三條回答。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四大風險。這些不是恐嚇,是產業真正的結構性事實。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全場的核心結論。用溫柔但堅定的語氣講,不用重講,一次就到位。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第一題答案:模型架構穩定性。推論已定、UALink 是時間問題。只有這個真能讓 ASIC 崛起崩解。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 delta:出貨量誤導、訓練推論分開、Nvidia 也 ASIC 化。共識框架本身錯。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三個層級的利潤流向。核心洞察:hyperscaler 拿最多但投資人永遠看不到 pure play。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投資排序 + 一句話收尾。這是全題最有價值的實作結論。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頁面。放輕鬆,大家可以隨便問。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從通用 GPU 到客戶自研晶片的結構性轉變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27432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產業講解 · 60 分鐘討論會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 ·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分鐘,六個部分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到底是什麼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GPU / FPGA / ASIC 四層對照 · 8 分鐘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產業怎麼賺錢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98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兩種玩家 + 三段收費結構 + 產業鏈 · 8 分鐘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2369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產業現況與趨勢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557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需求端 / 供給端 / 三大趨勢 · 11 分鐘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953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3895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四家公司深度分析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215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/ Marvell / 世芯 / GUC · 16 分鐘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553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4553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估值與目標價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873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PE 失靈 + 逐家計算 · 12 分鐘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63040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風險與收尾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532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四個系統性風險 · 5 分鐘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到底是什麼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四種晶片,一條光譜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從「什麼都能做」到「只做一件事,做到極致」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" y="2468880"/>
            <a:ext cx="25603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468880"/>
            <a:ext cx="2560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" y="2523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010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通用萬能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0100" y="3840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什麼都能做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但都不最快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06140" y="2468880"/>
            <a:ext cx="25603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6140" y="2468880"/>
            <a:ext cx="256032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2523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890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平行運算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89020" y="3840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大量重複同樣運算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剛好適合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5060" y="2468880"/>
            <a:ext cx="25603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5060" y="2468880"/>
            <a:ext cx="2560320" cy="457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5060" y="2523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779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可程式化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77940" y="3840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買回家後才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決定要做什麼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3980" y="2468880"/>
            <a:ext cx="25603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83980" y="2468880"/>
            <a:ext cx="256032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3980" y="2523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6686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專用電路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66860" y="3840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只做一件事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但那件事做到極致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彈性最高,效率最低 ────────────────────────────────► 彈性最低,效率最高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ASIC 為什麼強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 hyperscaler 都要做 ASIC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當部署規模超過 10 萬顆加速器,經濟賬立刻反轉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39496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– 50%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TCO 節省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相對於通用 GPU,ASIC 針對特定工作負載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可將總擁有成本降低 30 – 50%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468880"/>
            <a:ext cx="539496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7432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126480" y="4023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部署量的門檻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當單一客戶部署超過十萬顆 AI 加速器,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自己做 ASIC 才划算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ASIC 的代價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也不是免費午餐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效能極致的代價:開發成本高、時間長、彈性零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– 24 個月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開發週期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從架構設計到 tape-out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每一步都不能出錯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56032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$10M – $100M+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29768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開發成本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光罩費 + 驗證 + 團隊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先進製程門檻更高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56032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零彈性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3816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無法修改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一旦定案就無法改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演算法變了可能瞬間過時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這就是為什麼 ASIC 需要「巨大部署量」才划算 —— 只有 hyperscaler 玩得起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一句話總結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一句話記住四種晶片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996696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5603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是萬能瑞士刀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是大型工程工具箱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是可以改裝的機器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是為單一任務打造的專用機械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誰用什麼,取決於「任務有多固定、量有多大」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產業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怎麼賺錢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玩家分兩種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這個產業有兩種玩家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一種自己做給自己用,另一種替客戶做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3657600"/>
          </a:xfrm>
          <a:prstGeom prst="rect">
            <a:avLst/>
          </a:prstGeom>
          <a:solidFill>
            <a:srgbClr val="F0F3FA"/>
          </a:solidFill>
          <a:ln w="12700">
            <a:solidFill>
              <a:srgbClr val="F0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 · 自研派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自己畫、自己驗、自己用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需要巨大工程團隊 + 多年累積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 Apple · Google (部分)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的 A / M 系列、Google TPU 部分是內部團隊做的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5394960" cy="3657600"/>
          </a:xfrm>
          <a:prstGeom prst="rect">
            <a:avLst/>
          </a:prstGeom>
          <a:solidFill>
            <a:srgbClr val="F5EEE7"/>
          </a:solidFill>
          <a:ln w="12700">
            <a:solidFill>
              <a:srgbClr val="F5E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設計服務商 · 外包給專業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客戶出規格,他們把設計實現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外包買時間,尤其先進製程 tape-out 經驗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 Broadcom · Marvell · 世芯 · GUC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本場主角,今天四家公司都屬於這一類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錢怎麼收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設計服務商的三段收費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毛利節奏會隨業務組合大幅波動 —— 這件事後面看世芯時會再提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137160" cy="1051560"/>
          </a:xfrm>
          <a:prstGeom prst="rect">
            <a:avLst/>
          </a:prstGeom>
          <a:solidFill>
            <a:srgbClr val="1F4D3E"/>
          </a:solidFill>
          <a:ln w="12700">
            <a:solidFill>
              <a:srgbClr val="1F4D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一次性工程費用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設計、驗證、光罩費用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50%+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137160" cy="1051560"/>
          </a:xfrm>
          <a:prstGeom prst="rect">
            <a:avLst/>
          </a:prstGeom>
          <a:solidFill>
            <a:srgbClr val="B8410C"/>
          </a:solidFill>
          <a:ln w="12700">
            <a:solidFill>
              <a:srgbClr val="B8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第二段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Turnkey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9184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量產抽成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幫客戶管生產、每顆抽成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– 25%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54880"/>
            <a:ext cx="13716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138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授權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9184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重複授權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5303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SerDes、PCIe、記憶體介面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5138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中間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產業鏈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從客戶下單到晶片交貨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每一環都在收錢 —— 但誰卡得最緊?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201168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43200"/>
            <a:ext cx="20116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Hyperscaler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客戶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 NRE + 規格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26080" y="2743200"/>
            <a:ext cx="201168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743200"/>
            <a:ext cx="201168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63240" y="3977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/ Marvell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世芯 / GUC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74920" y="2743200"/>
            <a:ext cx="201168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743200"/>
            <a:ext cx="2011680" cy="2743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+ IP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12080" y="3977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/ Cadence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223760" y="2743200"/>
            <a:ext cx="201168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2743200"/>
            <a:ext cx="2011680" cy="274320"/>
          </a:xfrm>
          <a:prstGeom prst="rect">
            <a:avLst/>
          </a:prstGeom>
          <a:solidFill>
            <a:srgbClr val="1F4D3E"/>
          </a:solidFill>
          <a:ln w="12700">
            <a:solidFill>
              <a:srgbClr val="1F4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晶圓製造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3977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3nm / 2nm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9720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372600" y="2743200"/>
            <a:ext cx="201168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72600" y="2743200"/>
            <a:ext cx="201168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先進封裝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509760" y="3977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CoWoS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瓶頸所在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 CoWoS 是整條鏈上「最不可替代」的一環 —— Nvidia 目前佔了 60% 產能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COWOS 產能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真正的瓶頸在先進封裝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兩年內接近四倍擴張,但需求跑得更快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7744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377440"/>
            <a:ext cx="3749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~4x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兩年內產能擴張倍數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703320"/>
            <a:ext cx="3749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77240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一家已鎖定的比例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5029200"/>
            <a:ext cx="3749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120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– 78 週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772400" y="5806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目前的訂單交期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產業規模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雙寡頭 —— 兩家美廠合佔 95%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 AI ASIC co-design 市場的極端集中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這意味著什麼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2926080"/>
            <a:ext cx="5029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30449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每一美元 hyperscaler 客製晶片的錢,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會流過這兩家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3977640"/>
            <a:ext cx="5029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40965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台廠世芯、GUC 是「下游承包商」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接他們的訂單,不是取代他們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0" y="5029200"/>
            <a:ext cx="5029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51480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雙寡頭結構穩定,但正被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MediaTek 從邊緣挑戰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產業現況與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三大趨勢</a:t>
            </a:r>
            <a:endParaRPr lang="en-US" sz="5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需求端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所有大廠都在做自己的晶片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2026 年,「拒絕被 Nvidia 定價」的集體防禦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v8i / v8t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· 出貨 +40% YoY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Trainium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· 3nm 首發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MTIA 400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量產中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200 · Cobalt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7947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ASIC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合約至 2031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7947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1 GW → 3 GW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 2027 部署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這些都不是 roadmap —— 是已 GA 或已下單的訂單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需求端證據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Broadcom AI 半導體營收:超速成長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 guidance $16B 對應年增 +200%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2468880"/>
            <a:ext cx="301752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$73B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6868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backlog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六家 hyperscaler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客戶合約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Meta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· +1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趨勢一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推論才是真正的主戰場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訓練是 Nvidia 天下,推論才是 ASIC 的機會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3931920"/>
          </a:xfrm>
          <a:prstGeom prst="rect">
            <a:avLst/>
          </a:prstGeom>
          <a:solidFill>
            <a:srgbClr val="F0F3FA"/>
          </a:solidFill>
          <a:ln w="12700">
            <a:solidFill>
              <a:srgbClr val="F0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· TRAINING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的天下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一年就幾個大 model 在跑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需要極致算力(FLOPS)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Nvidia CUDA 生態綁得緊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hyperscaler 難以短期取代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394960" cy="3931920"/>
          </a:xfrm>
          <a:prstGeom prst="rect">
            <a:avLst/>
          </a:prstGeom>
          <a:solidFill>
            <a:srgbClr val="F5EEE7"/>
          </a:solidFill>
          <a:ln w="12700">
            <a:solidFill>
              <a:srgbClr val="F5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 · INFERENCE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的機會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每天幾十億次的使用者呼叫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講究延遲、頻寬、能耗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GPU 的相對弱點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客製化 ASIC 可以打敗通用 GPU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趨勢二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hyperscaler 刻意引入競爭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對 Broadcom 和 MediaTek 的雙軌策略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TPU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訓練晶片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Sunfish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2468880" y="4572000"/>
            <a:ext cx="1737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Broadcom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53949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560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TPU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推論晶片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Zebrafish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8229600" y="4572000"/>
            <a:ext cx="1737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MediaTek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的策略:同時綁兩家 —— 誰都不能太貴、誰都不能不做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趨勢三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亞洲設計服務廠結構性崛起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兩家台廠 2026 上半年營收成長明顯超越美廠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2468880"/>
            <a:ext cx="301752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7824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產能瓶頸下的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乘數效應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0" y="4114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台廠營收基數小,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 hyperscaler 訂單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對他們是「大單」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對美廠是「一筆」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四家公司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深度分析</a:t>
            </a:r>
            <a:endParaRPr lang="en-US" sz="5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概覽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一張表看懂四家的位置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23774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23774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23774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世芯 (3661)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35440" y="1737360"/>
            <a:ext cx="23774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創意 GUC (3443)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240280"/>
            <a:ext cx="155448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4028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3120" y="22402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主承包商龍頭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2402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次承包商 + 光互連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2402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台廠純 AI ASIC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22402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台積電系分散型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155448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01752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主要客戶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03120" y="30175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家 hyperscaler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30175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MSFT + Google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30175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(60%+)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35440" y="30175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MSFT + Tesla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155448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79476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最新成長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37947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+143% YoY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80560" y="37947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資料中心 +27% YoY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0" y="37947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GM 50.2%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35440" y="37947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上半年 +93% YoY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155448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57200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核心優勢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03120" y="457200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457200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年綁定 + backlog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480560" y="457200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457200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光互連 DSP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0" y="457200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457200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綁定 + 良率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235440" y="457200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0" y="457200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台積電子公司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5349240"/>
            <a:ext cx="155448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34924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主要風險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103120" y="534924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佔比高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480560" y="534924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Trainium 3 流失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858000" y="534924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4944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極端集中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235440" y="534924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2688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集中度 + 估值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四家對照下來:Broadcom 是最終贏家,Marvell 是次選挑戰者,兩家台廠是「產能瓶頸下的乘數效應受惠者」,但風險比美廠高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Broadcom (AVGO)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 ASIC 主承包商 · 六家 hyperscaler · 十年積累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$10.8B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3832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FY26 AI 半導體營收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+143% YoY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$56B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9611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全年 AI 目標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較 FY25 +180%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$73B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338328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3 年可見度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480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~20x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89611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mega-cap 相對合理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客戶名單: Google · Meta · OpenAI · Anthropic · Apple · +1 未公開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Marvell (MRVL)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次承包商 + 光互連 · AWS Trainium 主力 · Google Merope 新拿下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$2.42B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3832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營收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 YoY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$11.5B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9611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全年目標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+40% YoY (上調)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338328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資料中心佔比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業務主力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480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~60x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89611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定價已極為樂觀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新拿下 Google LPU "Merope" —— 生命週期營收 $10 – 12B · 打破 Broadcom 在 Google 的獨佔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世芯電子 Alchip (3661.TW)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Trainium 3 唯一設計商 · 台廠純 AI ASIC 曝險最直接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NT$41.9億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營收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毛利率 50.2% (40 季新高)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$23億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Trainium 3 貢獻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上看 $33 億美元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6616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客戶集中度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風險與機會並存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480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Q4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4400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Trainium 4 小量產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2nm 續戰關鍵訊號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世芯的獨特位置:即使 Broadcom / Marvell 傳出可能爭 Trainium 3 產能,但外資強調兩家只做「晶圓移轉」不做設計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創意電子 GUC (3443.TW)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台積電控股 34.8% · 客戶分散 · 新專案想像空間大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NT$25.3億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 累計營收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+93% YoY (幾乎倍增)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NT$4.93億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June 單月營收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 YoY (歷史新高)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6616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已預訂 CoWoS wafers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新專案基礎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394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480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家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4400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客戶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/ MSFT / Tesla / Meta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第二成長曲線: 與 Lightmatter 合作 CPO (共同封裝光學) · 2027 H2 起貢獻 $500 – 600M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估值 —— 為什麼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不能用同一把尺</a:t>
            </a:r>
            <a:endParaRPr lang="en-US" sz="5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破題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 PE 為什麼在這個產業失靈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兩個致命傷 —— ASIC 產業剛好兩個都踩滿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4023360"/>
          </a:xfrm>
          <a:prstGeom prst="rect">
            <a:avLst/>
          </a:prstGeom>
          <a:solidFill>
            <a:srgbClr val="F0F3FA"/>
          </a:solidFill>
          <a:ln w="12700">
            <a:solidFill>
              <a:srgbClr val="F0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第一個致命傷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獲利不穩定時,分母失真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世芯 2025 年 EPS 年減 37%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年可能翻倍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同一家公司 · 不同季度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算出的 PE 可以差三倍以上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這時候 PE 是「週期訊號」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不是「價值訊號」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394960" cy="4023360"/>
          </a:xfrm>
          <a:prstGeom prst="rect">
            <a:avLst/>
          </a:prstGeom>
          <a:solidFill>
            <a:srgbClr val="F5EEE7"/>
          </a:solidFill>
          <a:ln w="12700">
            <a:solidFill>
              <a:srgbClr val="F5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第二個致命傷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高成長股的當期 PE 是幻覺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033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Marvell 現在 TTM PE 83x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看起來瘋狂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但如果 FY27 / FY28 成長率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真的兌現,兩年後 PE 剩 30x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必須用未來 EPS 才有意義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而未來 EPS 是「估的」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立論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對這個產業有用的三個指標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371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股價 ÷ 未來 12 個月預估 EPS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適合對象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獲利穩定成長的公司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 以下便宜 · 30x 以上偏貴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00400"/>
            <a:ext cx="137160" cy="1234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37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4048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÷ 未來成長率 (%)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適合對象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成長率明確、有 guidance 的公司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便宜 · 1-2 合理 · &gt;2 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572000"/>
            <a:ext cx="137160" cy="1234440"/>
          </a:xfrm>
          <a:prstGeom prst="rect">
            <a:avLst/>
          </a:prstGeom>
          <a:solidFill>
            <a:srgbClr val="1F4D3E"/>
          </a:solidFill>
          <a:ln w="12700">
            <a:solidFill>
              <a:srgbClr val="1F4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09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P/S (市營比)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84048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市值 ÷ 近 12 個月營收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適合對象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獲利不穩定、營收爆發的公司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5349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以下便宜 · 10x 以上偏貴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目標價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目標價怎麼算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核心公式只有一條 —— 三個步驟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468880"/>
            <a:ext cx="94183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4688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目標價 = 未來的財務數字 × 合理的估值倍數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選一個指標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獲利穩定用 EPS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獲利波動大用營收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5196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預估未來數字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用管理層 guidance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或分析師共識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乘上合理倍數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最主觀的一步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所以要給區間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BROADCOM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Broadcom · 用 Forward PE 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可預測 → 用最直接的工具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4048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 12 個月 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 Forward PE 區間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– 25x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 5 年平均 25x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傳統半導體 20x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悲觀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$342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717804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$418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$475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現價 $384 → 落在中性偏下 · 分析師共識 ~$520 → 比我更樂觀 10-15%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MARVELL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Marvell · 用 PEG 反推法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成長率明確 + guidance 撐腰 → PEG 更能反映稀釋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4048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 12 個月 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成長率 (guidance)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 PEG 區間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 – 1.5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悲觀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0.9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717804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1.2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$240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1.5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現價 $266 → 中性偏樂觀 · 分析師共識 ~$252 → 我和分析師最一致的一支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世芯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世芯 Alchip · 用 Forward P/S 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獲利週期波動大 → 用營收繞過 PE 失真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4048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全年營收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NT$600 億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流通股本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 萬股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 P/S 區間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– 10x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悲觀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P/S 6x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NT$4,500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17804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P/S 8x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NT$6,000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P/S 10x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NT$7,500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現價 NT$3,300 → 悲觀之下 · 分析師共識 NT$6,000 → 隱含 80% upside 的 gap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GUC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創意 GUC · 同樣用 Forward P/S 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新專案還沒貢獻營收 → 用未來營收看更清楚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4048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全年營收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NT$750 億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流通股本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1.34 億股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 P/S 區間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– 15x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悲觀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P/S 8x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NT$4,500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17804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P/S 12x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NT$6,700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P/S 15x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NT$8,400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2578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現價 NT$4,340 → 悲觀附近 · 分析師共識 NT$4,901 → 我更樂觀,差在「時間軸」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彙整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四家目標價彙整 · 我 vs 分析師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1280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我的悲觀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我的中性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9202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我的樂觀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920240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分析師共識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78240" y="1920240"/>
            <a:ext cx="20116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137160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0" y="237744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2377440"/>
            <a:ext cx="11887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08960" y="23774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23774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23774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23760" y="2377440"/>
            <a:ext cx="1554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2377440"/>
            <a:ext cx="14630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78240" y="2377440"/>
            <a:ext cx="2011680" cy="685800"/>
          </a:xfrm>
          <a:prstGeom prst="rect">
            <a:avLst/>
          </a:prstGeom>
          <a:solidFill>
            <a:srgbClr val="F5EE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2377440"/>
            <a:ext cx="19202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分析師 +10~15%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137160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0" y="306324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0" y="30632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30632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52160" y="30632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23760" y="3063240"/>
            <a:ext cx="1554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778240" y="3063240"/>
            <a:ext cx="2011680" cy="685800"/>
          </a:xfrm>
          <a:prstGeom prst="rect">
            <a:avLst/>
          </a:prstGeom>
          <a:solidFill>
            <a:srgbClr val="F5EE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2396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幾乎一致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37160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世芯 3661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828800" y="374904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74520" y="3749040"/>
            <a:ext cx="11887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NT$3,300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08960" y="37490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5468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NT$4,500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480560" y="37490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NT$6,000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852160" y="37490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9788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NT$7,500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223760" y="3749040"/>
            <a:ext cx="1554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948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NT$6,000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778240" y="3749040"/>
            <a:ext cx="2011680" cy="685800"/>
          </a:xfrm>
          <a:prstGeom prst="rect">
            <a:avLst/>
          </a:prstGeom>
          <a:solidFill>
            <a:srgbClr val="F5EE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23960" y="3749040"/>
            <a:ext cx="19202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= 分析師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57200" y="4434840"/>
            <a:ext cx="137160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4348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創意 3443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828800" y="443484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74520" y="4434840"/>
            <a:ext cx="11887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NT$4,340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108960" y="44348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54680" y="44348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NT$4,500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480560" y="44348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26280" y="44348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NT$6,700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852160" y="44348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97880" y="4434840"/>
            <a:ext cx="12801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NT$8,400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223760" y="4434840"/>
            <a:ext cx="1554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69480" y="4434840"/>
            <a:ext cx="14630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NT$4,901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778240" y="4434840"/>
            <a:ext cx="2011680" cy="685800"/>
          </a:xfrm>
          <a:prstGeom prst="rect">
            <a:avLst/>
          </a:prstGeom>
          <a:solidFill>
            <a:srgbClr val="F5EE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23960" y="4434840"/>
            <a:ext cx="19202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我比分析師樂觀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40080" y="55321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世芯:現價 vs 分析師 gap 最大 (80% upside),反映 Trainium 4 續戰疑慮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Marvell:我和分析師共識最一致,但分析師之間差 3 倍 —— 共識是假象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GUC:我更樂觀,原因是「時間軸」不同(我用 2027、分析師用 2026)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心法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目標價的三個心法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103120" y="22402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目標價是「基於明確假設的推論」,不是「精準預測」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03120" y="27432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看到任何目標價 —— 不管是分析師還是自己算的 —— 第一件事都要問「這個目標假設了什麼」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103120" y="37947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永遠給區間、不給單點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03120" y="42976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悲觀 / 中性 / 樂觀三個情境,比「目標價 $500」有說服力得多。同時可以說明「哪個情境比較可能發生」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0352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103120" y="534924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目標價的用途是「判斷現價相對於預期在哪」,不是「預測會漲到哪」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03120" y="58521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如果現價低於悲觀,問「是我太樂觀還是市場沒看到什麼」;高於樂觀,問「是我太保守還是市場已 priced in 太多」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系統性風險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與收尾</a:t>
            </a:r>
            <a:endParaRPr lang="en-US" sz="5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風險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四個要放在心上的系統性風險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單一客戶斷崖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697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任何一家 hyperscaler 決定內部化,對應設計商營收斷崖式下滑。世芯 Q2 2025 -29% 就是先例。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488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13232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CoWoS 產能綁架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697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佔 60% 產能,其他玩家搶剩下的。就算拿到訂單也可能因產能不足延誤出貨。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062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554480" y="4251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生態反擊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7548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在收購潛在對手(Groq $20B)並壓低 Blackwell/Rubin 成本。如果 GPU TCO 大幅改善,ASIC 優勢被侵蝕。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97764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2062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132320" y="4251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地緣政治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47548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整條產業鏈依賴台積電,台積電依賴台海和平。這是台廠特有的系統性風險。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一句話收尾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一句話,如果整整 60 分鐘只能記一句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這一波 ASIC 崛起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不是 Nvidia 的替代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而是全球 hyperscaler 對「單一供應商定價權」的集體防禦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13716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真正的贏家不是造 ASIC 的公司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而是幫 hyperscaler 造 ASIC 的公司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 · Q1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決定 ASIC vs GPU 的唯一變數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三個候選,只有一個真的是「變數」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32918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不是變數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推論 vs 訓練佔比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已定 —— ChatGPT / Gemini /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每天幾十億次呼叫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推論總量必然超過訓練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這是趨勢,不是變數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已被 pricing 進去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657600" cy="32918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不是變數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UALink vs NVLink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時間問題 —— hyperscaler 有絕對動機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花了十年才擺脫 Nvidia 綁架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這代追不上、下一代也會追上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是「何時」問題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不是「會不會」問題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657600" cy="3291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唯一真變數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模型架構是否穩定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361188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開發週期 18-24 個月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 tape-out 的晶片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年才量產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如果新典範冒出來(世界模型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具身智慧、還沒被命名的架構)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集體變硬體級技術債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只有這個變數決定 ASIC 整條敘事會不會集體崩解 —— 另外兩個是加速或減緩,不是成立或不成立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 · Q1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跟共識不一樣的三個 delta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「ASIC 會贏 GPU」這個框架本身就錯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出貨量 ≠ 營收 ≠ 利潤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TrendForce 44.6% vs 16.1%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是「成長率」,基期還差 2-3 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單價通常只有 GPU 的一半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出貨量贏 ≠ 營收贏 ≠ 利潤贏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像用「電動車銷量超越燃油車」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推論「福特會贏豐田」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6576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訓練 vs 推論要分開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共識用一個「ASIC vs GPU」講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實際上是兩個市場、兩個贏家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—— Nvidia 短期守得住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 —— ASIC 真正的地盤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不是一場戰爭 —— 是兩個市場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6576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753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也在 ASIC 化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36118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 CPX 已經是 hyperscaler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 SKU · 專為推論優化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邊界正在模糊 —— 五年後可能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沒有純的「ASIC vs GPU」對立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只有「客製化程度光譜」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共識:「ASIC 取代 GPU」   →   我的觀點:「訓練 GPU 守 · 推論 ASIC 吃 · 邊界模糊 · 模型架構是斷路點」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 · 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贏,錢流到誰口袋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Counter-intuitive:hyperscaler 拿最多,但你看不到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拿最多 · 看不到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Hyperscaler(Google · Meta · AWS)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用 TPU 而不是 H100,單顆算力成本低 30-50% —— 省下的 CAPEX 直接進 Google 營運利潤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這個絕對數字遠大於整個 Broadcom AI 業務營收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0" y="2468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稀釋在 GCP / Services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 P&amp;L 裡</a:t>
            </a:r>
            <a:endParaRPr lang="en-US" sz="1100" dirty="0"/>
          </a:p>
          <a:p>
            <a:pPr algn="r" indent="0" marL="0">
              <a:buNone/>
            </a:pPr>
            <a:endParaRPr lang="en-US" sz="1100" dirty="0"/>
          </a:p>
          <a:p>
            <a:pPr algn="r"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沒有 TPU 損益表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拿一小塊 · 明面可見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3159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設計商(Broadcom / Marvell / 世芯 / GUC)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 + Turnkey 抽成 —— 明面上可見的 ASIC 利潤,但相對於 hyperscaler 內部省的錢是小數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051560"/>
          </a:xfrm>
          <a:prstGeom prst="rect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拿最穩 · 不管誰贏都贏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5504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TSMC + 先進封裝 (賣鏟子的人)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每顆晶片流過去都要抽產能費 —— ASIC vs GPU 誰贏,他們都贏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 · 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買不到的悖論 · 我的投資排序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賣鏟子的人反而變得更值錢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137160" cy="749808"/>
          </a:xfrm>
          <a:prstGeom prst="rect">
            <a:avLst/>
          </a:prstGeom>
          <a:solidFill>
            <a:srgbClr val="1F4D3E"/>
          </a:solidFill>
          <a:ln w="12700">
            <a:solidFill>
              <a:srgbClr val="1F4D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313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TSMC + 先進封裝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28800" y="2624328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最乾淨、最穩、不管 ASIC vs GPU 誰贏都贏 · 最持久的產能費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35808"/>
            <a:ext cx="13716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729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3465576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明面上最大 ASIC 設計商 · pure play 曝險 · 主承包商議價權強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77056"/>
            <a:ext cx="137160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1421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3995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Marvell / 世芯 / GUC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28800" y="4306824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集中度更高、波動大 · 適合主動 alpha 而不是被動 exposure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718304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718304"/>
            <a:ext cx="137160" cy="74980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5546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828800" y="48371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(反直覺)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828800" y="5148072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訓練市場最佳標的 · 沒 Nvidia 部位等於賭訓練崩潰 —— 保險不是賭注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687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買 TSMC + Broadcom(賣鏟子的人),保留 Nvidia(訓練市場)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hyperscaler 當作「已經在你 index fund 裡」的間接曝險就好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166360" y="4572000"/>
            <a:ext cx="18288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討論 · 延伸 · 反駁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ASIC 產業講解</dc:title>
  <dc:subject>PptxGenJS Presentation</dc:subject>
  <dc:creator>ASIC 產業講解</dc:creator>
  <cp:lastModifiedBy>ASIC 產業講解</cp:lastModifiedBy>
  <cp:revision>1</cp:revision>
  <dcterms:created xsi:type="dcterms:W3CDTF">2026-07-17T10:20:43Z</dcterms:created>
  <dcterms:modified xsi:type="dcterms:W3CDTF">2026-07-17T10:20:43Z</dcterms:modified>
</cp:coreProperties>
</file>